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2961861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1974830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106669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C99DAD-75F1-4633-A73D-CF139CEA4292}"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1270857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C99DAD-75F1-4633-A73D-CF139CEA4292}"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321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C99DAD-75F1-4633-A73D-CF139CEA4292}"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3380503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99DAD-75F1-4633-A73D-CF139CEA4292}"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2753257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C99DAD-75F1-4633-A73D-CF139CEA4292}"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4158769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99DAD-75F1-4633-A73D-CF139CEA4292}"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160574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250170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87602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3366680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34119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29524976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2225639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99DAD-75F1-4633-A73D-CF139CEA4292}"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CDC28-8A87-4A81-9960-BAED9469AAB4}" type="slidenum">
              <a:rPr lang="en-US" smtClean="0"/>
              <a:t>‹#›</a:t>
            </a:fld>
            <a:endParaRPr lang="en-US"/>
          </a:p>
        </p:txBody>
      </p:sp>
    </p:spTree>
    <p:extLst>
      <p:ext uri="{BB962C8B-B14F-4D97-AF65-F5344CB8AC3E}">
        <p14:creationId xmlns:p14="http://schemas.microsoft.com/office/powerpoint/2010/main" val="3138170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8C99DAD-75F1-4633-A73D-CF139CEA4292}" type="datetimeFigureOut">
              <a:rPr lang="en-US" smtClean="0"/>
              <a:t>11/3/2025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83CDC28-8A87-4A81-9960-BAED9469AAB4}" type="slidenum">
              <a:rPr lang="en-US" smtClean="0"/>
              <a:t>‹#›</a:t>
            </a:fld>
            <a:endParaRPr lang="en-US"/>
          </a:p>
        </p:txBody>
      </p:sp>
    </p:spTree>
    <p:extLst>
      <p:ext uri="{BB962C8B-B14F-4D97-AF65-F5344CB8AC3E}">
        <p14:creationId xmlns:p14="http://schemas.microsoft.com/office/powerpoint/2010/main" val="1369628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47FE-B841-424B-A57E-65100208F8B1}"/>
              </a:ext>
            </a:extLst>
          </p:cNvPr>
          <p:cNvSpPr>
            <a:spLocks noGrp="1"/>
          </p:cNvSpPr>
          <p:nvPr>
            <p:ph type="ctrTitle"/>
          </p:nvPr>
        </p:nvSpPr>
        <p:spPr/>
        <p:txBody>
          <a:bodyPr/>
          <a:lstStyle/>
          <a:p>
            <a:pPr marL="0" marR="0">
              <a:lnSpc>
                <a:spcPct val="107000"/>
              </a:lnSpc>
              <a:spcBef>
                <a:spcPts val="0"/>
              </a:spcBef>
              <a:spcAft>
                <a:spcPts val="800"/>
              </a:spcAft>
            </a:pPr>
            <a:r>
              <a:rPr lang="en-US" sz="4800" b="1" dirty="0">
                <a:effectLst/>
                <a:latin typeface="Times New Roman" panose="02020603050405020304" pitchFamily="18" charset="0"/>
                <a:ea typeface="Times New Roman" panose="02020603050405020304" pitchFamily="18" charset="0"/>
                <a:cs typeface="Times New Roman" panose="02020603050405020304" pitchFamily="18" charset="0"/>
              </a:rPr>
              <a:t>Fresh Mart Superstores Sales Analysis Reports</a:t>
            </a:r>
            <a:endParaRPr lang="en-US" sz="4800" dirty="0"/>
          </a:p>
        </p:txBody>
      </p:sp>
      <p:sp>
        <p:nvSpPr>
          <p:cNvPr id="3" name="Subtitle 2">
            <a:extLst>
              <a:ext uri="{FF2B5EF4-FFF2-40B4-BE49-F238E27FC236}">
                <a16:creationId xmlns:a16="http://schemas.microsoft.com/office/drawing/2014/main" id="{5428099D-2848-4799-BD87-F2A72897C4F3}"/>
              </a:ext>
            </a:extLst>
          </p:cNvPr>
          <p:cNvSpPr>
            <a:spLocks noGrp="1"/>
          </p:cNvSpPr>
          <p:nvPr>
            <p:ph type="subTitle" idx="1"/>
          </p:nvPr>
        </p:nvSpPr>
        <p:spPr/>
        <p:txBody>
          <a:bodyPr>
            <a:normAutofit/>
          </a:bodyPr>
          <a:lstStyle/>
          <a:p>
            <a:r>
              <a:rPr lang="en-US" sz="3600" dirty="0"/>
              <a:t>Study Group 3</a:t>
            </a:r>
          </a:p>
        </p:txBody>
      </p:sp>
      <p:sp>
        <p:nvSpPr>
          <p:cNvPr id="6" name="TextBox 5">
            <a:extLst>
              <a:ext uri="{FF2B5EF4-FFF2-40B4-BE49-F238E27FC236}">
                <a16:creationId xmlns:a16="http://schemas.microsoft.com/office/drawing/2014/main" id="{0FC6D116-1BFA-4C15-B7F9-7FE3B0069C73}"/>
              </a:ext>
            </a:extLst>
          </p:cNvPr>
          <p:cNvSpPr txBox="1"/>
          <p:nvPr/>
        </p:nvSpPr>
        <p:spPr>
          <a:xfrm>
            <a:off x="4494997" y="4739899"/>
            <a:ext cx="5274645" cy="369332"/>
          </a:xfrm>
          <a:prstGeom prst="rect">
            <a:avLst/>
          </a:prstGeom>
          <a:noFill/>
        </p:spPr>
        <p:txBody>
          <a:bodyPr wrap="square" rtlCol="0">
            <a:spAutoFit/>
          </a:bodyPr>
          <a:lstStyle/>
          <a:p>
            <a:r>
              <a:rPr lang="en-US" dirty="0"/>
              <a:t>Data Science and Engineering, WTFellowship.</a:t>
            </a:r>
          </a:p>
        </p:txBody>
      </p:sp>
    </p:spTree>
    <p:extLst>
      <p:ext uri="{BB962C8B-B14F-4D97-AF65-F5344CB8AC3E}">
        <p14:creationId xmlns:p14="http://schemas.microsoft.com/office/powerpoint/2010/main" val="3566704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07C84-E619-48BF-94D3-C4F353E7DDE4}"/>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Background</a:t>
            </a:r>
            <a:endParaRPr lang="en-US" dirty="0"/>
          </a:p>
        </p:txBody>
      </p:sp>
      <p:sp>
        <p:nvSpPr>
          <p:cNvPr id="3" name="Content Placeholder 2">
            <a:extLst>
              <a:ext uri="{FF2B5EF4-FFF2-40B4-BE49-F238E27FC236}">
                <a16:creationId xmlns:a16="http://schemas.microsoft.com/office/drawing/2014/main" id="{372C1887-057D-49A3-953B-C50A6925CC44}"/>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Fresh Mart Superstores is a mid-sized supermarket chain operating across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Yangon, Mandalay, and Naypyitaw</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Over the past year, the company has systematically recorded its sales, customer demographics, and product information to understand performance across branches and product categories. Management now aims to leverage Power BI to uncover actionable insights on revenue trends, customer behavior, and operational efficiency.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42894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30ED0-0E22-4B2F-8D51-F8E04DC198FD}"/>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Objective</a:t>
            </a:r>
            <a:endParaRPr lang="en-US" dirty="0"/>
          </a:p>
        </p:txBody>
      </p:sp>
      <p:sp>
        <p:nvSpPr>
          <p:cNvPr id="3" name="Content Placeholder 2">
            <a:extLst>
              <a:ext uri="{FF2B5EF4-FFF2-40B4-BE49-F238E27FC236}">
                <a16:creationId xmlns:a16="http://schemas.microsoft.com/office/drawing/2014/main" id="{E16E834B-9517-4A47-B198-737058C70929}"/>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main objective of this project is to design and develop an interactive Power BI dashboard that visualizes key performance metrics, including sales, profit, customer segments, and payment trends, to support data-driven decision-making at branch and corporate levels.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05305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0AF18-F32C-433C-93EB-FA5F951C0A85}"/>
              </a:ext>
            </a:extLst>
          </p:cNvPr>
          <p:cNvSpPr>
            <a:spLocks noGrp="1"/>
          </p:cNvSpPr>
          <p:nvPr>
            <p:ph type="title"/>
          </p:nvPr>
        </p:nvSpPr>
        <p:spPr>
          <a:xfrm>
            <a:off x="677334" y="279401"/>
            <a:ext cx="8596668" cy="1320800"/>
          </a:xfrm>
        </p:spPr>
        <p:txBody>
          <a:bodyPr/>
          <a:lstStyle/>
          <a:p>
            <a:r>
              <a:rPr lang="en-US" dirty="0"/>
              <a:t>Tools Used</a:t>
            </a:r>
          </a:p>
        </p:txBody>
      </p:sp>
      <p:sp>
        <p:nvSpPr>
          <p:cNvPr id="3" name="Content Placeholder 2">
            <a:extLst>
              <a:ext uri="{FF2B5EF4-FFF2-40B4-BE49-F238E27FC236}">
                <a16:creationId xmlns:a16="http://schemas.microsoft.com/office/drawing/2014/main" id="{517A5B39-9B5B-4413-B4C5-FB391110398E}"/>
              </a:ext>
            </a:extLst>
          </p:cNvPr>
          <p:cNvSpPr>
            <a:spLocks noGrp="1"/>
          </p:cNvSpPr>
          <p:nvPr>
            <p:ph idx="1"/>
          </p:nvPr>
        </p:nvSpPr>
        <p:spPr>
          <a:xfrm>
            <a:off x="677334" y="4254366"/>
            <a:ext cx="8596668" cy="1786996"/>
          </a:xfrm>
        </p:spPr>
        <p:txBody>
          <a:bodyPr/>
          <a:lstStyle/>
          <a:p>
            <a:pPr marL="0" marR="0" lvl="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5" name="Picture 4">
            <a:extLst>
              <a:ext uri="{FF2B5EF4-FFF2-40B4-BE49-F238E27FC236}">
                <a16:creationId xmlns:a16="http://schemas.microsoft.com/office/drawing/2014/main" id="{2CF7C6B2-4F6B-4A6F-8EF3-D254A356A7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820814"/>
            <a:ext cx="1311259" cy="954626"/>
          </a:xfrm>
          <a:prstGeom prst="rect">
            <a:avLst/>
          </a:prstGeom>
        </p:spPr>
      </p:pic>
      <p:pic>
        <p:nvPicPr>
          <p:cNvPr id="7" name="Picture 6">
            <a:extLst>
              <a:ext uri="{FF2B5EF4-FFF2-40B4-BE49-F238E27FC236}">
                <a16:creationId xmlns:a16="http://schemas.microsoft.com/office/drawing/2014/main" id="{9DA8BF35-DD7E-497C-98D7-1C3084FB56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15" y="1270001"/>
            <a:ext cx="1751821" cy="1139326"/>
          </a:xfrm>
          <a:prstGeom prst="rect">
            <a:avLst/>
          </a:prstGeom>
        </p:spPr>
      </p:pic>
      <p:sp>
        <p:nvSpPr>
          <p:cNvPr id="9" name="TextBox 8">
            <a:extLst>
              <a:ext uri="{FF2B5EF4-FFF2-40B4-BE49-F238E27FC236}">
                <a16:creationId xmlns:a16="http://schemas.microsoft.com/office/drawing/2014/main" id="{7A7A7F75-2D70-42C6-B353-CD48FE7520A8}"/>
              </a:ext>
            </a:extLst>
          </p:cNvPr>
          <p:cNvSpPr txBox="1"/>
          <p:nvPr/>
        </p:nvSpPr>
        <p:spPr>
          <a:xfrm>
            <a:off x="2406316" y="1654998"/>
            <a:ext cx="4504623" cy="36933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visualization and DAX-based analysis</a:t>
            </a:r>
            <a:endParaRPr lang="en-US" dirty="0"/>
          </a:p>
        </p:txBody>
      </p:sp>
      <p:sp>
        <p:nvSpPr>
          <p:cNvPr id="10" name="TextBox 9">
            <a:extLst>
              <a:ext uri="{FF2B5EF4-FFF2-40B4-BE49-F238E27FC236}">
                <a16:creationId xmlns:a16="http://schemas.microsoft.com/office/drawing/2014/main" id="{F8C2C599-DFFF-4931-A6AC-23BD6B6C9996}"/>
              </a:ext>
            </a:extLst>
          </p:cNvPr>
          <p:cNvSpPr txBox="1"/>
          <p:nvPr/>
        </p:nvSpPr>
        <p:spPr>
          <a:xfrm>
            <a:off x="2406316" y="4693089"/>
            <a:ext cx="4292867" cy="36933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create calculated columns and measures</a:t>
            </a:r>
            <a:endParaRPr lang="en-US" dirty="0"/>
          </a:p>
        </p:txBody>
      </p:sp>
      <p:pic>
        <p:nvPicPr>
          <p:cNvPr id="12" name="Picture 11">
            <a:extLst>
              <a:ext uri="{FF2B5EF4-FFF2-40B4-BE49-F238E27FC236}">
                <a16:creationId xmlns:a16="http://schemas.microsoft.com/office/drawing/2014/main" id="{29C6BFA6-988F-4E0E-9748-E67ADDF623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334" y="4167511"/>
            <a:ext cx="1397600" cy="1420488"/>
          </a:xfrm>
          <a:prstGeom prst="rect">
            <a:avLst/>
          </a:prstGeom>
        </p:spPr>
      </p:pic>
      <p:sp>
        <p:nvSpPr>
          <p:cNvPr id="13" name="TextBox 12">
            <a:extLst>
              <a:ext uri="{FF2B5EF4-FFF2-40B4-BE49-F238E27FC236}">
                <a16:creationId xmlns:a16="http://schemas.microsoft.com/office/drawing/2014/main" id="{D036FC77-9B75-4140-B91F-5FFF04236645}"/>
              </a:ext>
            </a:extLst>
          </p:cNvPr>
          <p:cNvSpPr txBox="1"/>
          <p:nvPr/>
        </p:nvSpPr>
        <p:spPr>
          <a:xfrm>
            <a:off x="2406316" y="3113461"/>
            <a:ext cx="4032986" cy="369332"/>
          </a:xfrm>
          <a:prstGeom prst="rect">
            <a:avLst/>
          </a:prstGeom>
          <a:noFill/>
        </p:spPr>
        <p:txBody>
          <a:bodyPr wrap="square" rtlCol="0">
            <a:spAutoFit/>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for data review and preprocessing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8134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29A66-D9E5-458E-9AD2-2E75DC2CA791}"/>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Problem Statement / Business Questions</a:t>
            </a:r>
            <a:endParaRPr lang="en-US" dirty="0"/>
          </a:p>
        </p:txBody>
      </p:sp>
      <p:sp>
        <p:nvSpPr>
          <p:cNvPr id="3" name="Content Placeholder 2">
            <a:extLst>
              <a:ext uri="{FF2B5EF4-FFF2-40B4-BE49-F238E27FC236}">
                <a16:creationId xmlns:a16="http://schemas.microsoft.com/office/drawing/2014/main" id="{13DFF1C8-D782-415E-B6E3-E0FA81B79316}"/>
              </a:ext>
            </a:extLst>
          </p:cNvPr>
          <p:cNvSpPr>
            <a:spLocks noGrp="1"/>
          </p:cNvSpPr>
          <p:nvPr>
            <p:ph idx="1"/>
          </p:nvPr>
        </p:nvSpPr>
        <p:spPr/>
        <p:txBody>
          <a:bodyPr>
            <a:normAutofit fontScale="92500" lnSpcReduction="10000"/>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project seeks to address the following key questions: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is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total revenue, total gross income, total orders,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average rating</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across all branches?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Which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branch or city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recorded the highest total sales and gross income, and how do they compare monthly?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How do sales and gross income differ between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Member vs Normal customers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does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gender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influence buying behavior?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Which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product line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generates the most revenue and achieves the highest customer ratings?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are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most preferred payment methods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how do they relate to total sales and branch location?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are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daily and monthly sales trends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—which months and hours are peak performers?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How many orders occur each day, and during which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times of day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(morning, afternoon, evening) are they most frequent?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64373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EFEDB-FCBB-42C3-B1FE-AA3BFBBC169B}"/>
              </a:ext>
            </a:extLst>
          </p:cNvPr>
          <p:cNvSpPr>
            <a:spLocks noGrp="1"/>
          </p:cNvSpPr>
          <p:nvPr>
            <p:ph type="title"/>
          </p:nvPr>
        </p:nvSpPr>
        <p:spPr/>
        <p:txBody>
          <a:bodyPr>
            <a:normAutofit/>
          </a:bodyPr>
          <a:lstStyle/>
          <a:p>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Data Collection and Description</a:t>
            </a:r>
            <a:endParaRPr lang="en-US" dirty="0"/>
          </a:p>
        </p:txBody>
      </p:sp>
      <p:sp>
        <p:nvSpPr>
          <p:cNvPr id="3" name="Content Placeholder 2">
            <a:extLst>
              <a:ext uri="{FF2B5EF4-FFF2-40B4-BE49-F238E27FC236}">
                <a16:creationId xmlns:a16="http://schemas.microsoft.com/office/drawing/2014/main" id="{EED56671-1035-4364-AB80-E9B2D412164F}"/>
              </a:ext>
            </a:extLst>
          </p:cNvPr>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dataset originated from Fresh Mart’s internal sales records and was provided as an Excel file titled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Supermarket Sales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It contains approximately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1,000 transactions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collected between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January and March 2019</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Key Fields Included: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Invoice ID, Date, Time, Branch and City, Customer Type (Member / Normal), Gender, Product Line, Unit Price, Quantity, Tax 5%, Total, Gross Income, Payment Method (Cash, E-wallet, Credit Card), Customer Rating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dataset provides a comprehensive view of sales performance, customer demographics, and operational activity across all branches.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7809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F7852-51C2-4103-A4D8-D93A2386B1D4}"/>
              </a:ext>
            </a:extLst>
          </p:cNvPr>
          <p:cNvSpPr>
            <a:spLocks noGrp="1"/>
          </p:cNvSpPr>
          <p:nvPr>
            <p:ph type="title"/>
          </p:nvPr>
        </p:nvSpPr>
        <p:spPr/>
        <p:txBody>
          <a:bodyPr>
            <a:normAutofit/>
          </a:bodyPr>
          <a:lstStyle/>
          <a:p>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Data Cleaning and Preparation</a:t>
            </a:r>
            <a:endParaRPr lang="en-US" dirty="0"/>
          </a:p>
        </p:txBody>
      </p:sp>
      <p:sp>
        <p:nvSpPr>
          <p:cNvPr id="3" name="Content Placeholder 2">
            <a:extLst>
              <a:ext uri="{FF2B5EF4-FFF2-40B4-BE49-F238E27FC236}">
                <a16:creationId xmlns:a16="http://schemas.microsoft.com/office/drawing/2014/main" id="{F793DE2B-B61D-4189-AA07-498DE12FBDC8}"/>
              </a:ext>
            </a:extLst>
          </p:cNvPr>
          <p:cNvSpPr>
            <a:spLocks noGrp="1"/>
          </p:cNvSpPr>
          <p:nvPr>
            <p:ph idx="1"/>
          </p:nvPr>
        </p:nvSpPr>
        <p:spPr>
          <a:xfrm>
            <a:off x="677334" y="1491917"/>
            <a:ext cx="8596668" cy="4549446"/>
          </a:xfrm>
        </p:spPr>
        <p:txBody>
          <a:bodyPr>
            <a:normAutofit fontScale="92500" lnSpcReduction="10000"/>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cleaning and transformation were conducted within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Power BI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to ensure accuracy and usability.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Key steps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Used the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first row as headers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verified data types (Date/Time, Text, Number).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Created customer id, and product id.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Used the ‘branch’ as location id.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Duplicated the customer, location and product tables and merged them with the fact table.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Handled missing values and removed duplicates.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Created a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Calendar table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date-related hierarchies and analysis.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Added columns such 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Month Number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Month Name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Day Name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i="1" dirty="0">
                <a:effectLst/>
                <a:latin typeface="Times New Roman" panose="02020603050405020304" pitchFamily="18" charset="0"/>
                <a:ea typeface="Times New Roman" panose="02020603050405020304" pitchFamily="18" charset="0"/>
                <a:cs typeface="Times New Roman" panose="02020603050405020304" pitchFamily="18" charset="0"/>
              </a:rPr>
              <a:t>Time of Day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(Morning 9–12 PM, Afternoon 12–4 PM, Evening 4–9 PM).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Loaded the data to the front-end and created relationships (star-schema).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Built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DAX measures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for Total Revenue, Total cogs, Total Orders, Gross Income/ Profit, and Average Rating.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40014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072E-2A8C-411C-8616-D96654F31CFC}"/>
              </a:ext>
            </a:extLst>
          </p:cNvPr>
          <p:cNvSpPr>
            <a:spLocks noGrp="1"/>
          </p:cNvSpPr>
          <p:nvPr>
            <p:ph type="title"/>
          </p:nvPr>
        </p:nvSpPr>
        <p:spPr/>
        <p:txBody>
          <a:bodyPr>
            <a:normAutofit/>
          </a:bodyPr>
          <a:lstStyle/>
          <a:p>
            <a:r>
              <a:rPr lang="en-US" b="1" dirty="0">
                <a:effectLst/>
                <a:latin typeface="Times New Roman" panose="02020603050405020304" pitchFamily="18" charset="0"/>
                <a:ea typeface="Times New Roman" panose="02020603050405020304" pitchFamily="18" charset="0"/>
                <a:cs typeface="Times New Roman" panose="02020603050405020304" pitchFamily="18" charset="0"/>
              </a:rPr>
              <a:t>Data Analysis</a:t>
            </a:r>
            <a:endParaRPr lang="en-US" dirty="0"/>
          </a:p>
        </p:txBody>
      </p:sp>
      <p:sp>
        <p:nvSpPr>
          <p:cNvPr id="3" name="Content Placeholder 2">
            <a:extLst>
              <a:ext uri="{FF2B5EF4-FFF2-40B4-BE49-F238E27FC236}">
                <a16:creationId xmlns:a16="http://schemas.microsoft.com/office/drawing/2014/main" id="{7AF84358-173B-42B0-9399-B524FE0941AB}"/>
              </a:ext>
            </a:extLst>
          </p:cNvPr>
          <p:cNvSpPr>
            <a:spLocks noGrp="1"/>
          </p:cNvSpPr>
          <p:nvPr>
            <p:ph idx="1"/>
          </p:nvPr>
        </p:nvSpPr>
        <p:spPr>
          <a:xfrm>
            <a:off x="677334" y="1212784"/>
            <a:ext cx="8596668" cy="3714818"/>
          </a:xfrm>
        </p:spPr>
        <p:txBody>
          <a:bodyPr>
            <a:normAutofit fontScale="92500" lnSpcReduction="20000"/>
          </a:bodyPr>
          <a:lstStyle/>
          <a:p>
            <a:pPr marL="0" marR="0">
              <a:lnSpc>
                <a:spcPct val="107000"/>
              </a:lnSpc>
              <a:spcBef>
                <a:spcPts val="0"/>
              </a:spcBef>
              <a:spcAft>
                <a:spcPts val="8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FreshMart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recorded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322.97K total revenue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over the period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15.38K total gross profit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Average customer rating across product lines is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6.97 / 10</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Total orders in the dataset =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1,000</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By location,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Naypyitaw</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has the highest total revenue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111K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with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Yangon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Mandalay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close behind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106K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each). </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Evening business is the strongest time of day (evening revenue ≈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58K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vs morning/afternoon ≈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26K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analysis was presented on one dashboard, with deeper insights provided in a report with 5 pages (profit report, sales trends report, customer segment report, product report, payment report)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051007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6172D-8A86-42FC-9339-E2EAF4EDDFF3}"/>
              </a:ext>
            </a:extLst>
          </p:cNvPr>
          <p:cNvSpPr>
            <a:spLocks noGrp="1"/>
          </p:cNvSpPr>
          <p:nvPr>
            <p:ph type="title"/>
          </p:nvPr>
        </p:nvSpPr>
        <p:spPr/>
        <p:txBody>
          <a:bodyPr/>
          <a:lstStyle/>
          <a:p>
            <a:r>
              <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rPr>
              <a:t>Dashboard: Overall Performance</a:t>
            </a:r>
            <a:br>
              <a:rPr lang="en-US" sz="36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7C54B32-2542-4F87-A0E3-0EFEC96D73FE}"/>
              </a:ext>
            </a:extLst>
          </p:cNvPr>
          <p:cNvSpPr>
            <a:spLocks noGrp="1"/>
          </p:cNvSpPr>
          <p:nvPr>
            <p:ph idx="1"/>
          </p:nvPr>
        </p:nvSpPr>
        <p:spPr>
          <a:xfrm>
            <a:off x="677334" y="1328286"/>
            <a:ext cx="8596668" cy="5072513"/>
          </a:xfrm>
        </p:spPr>
        <p:txBody>
          <a:bodyPr>
            <a:normAutofit fontScale="85000" lnSpcReduction="20000"/>
          </a:bodyPr>
          <a:lstStyle/>
          <a:p>
            <a:pPr marL="0" marR="0" indent="0">
              <a:lnSpc>
                <a:spcPct val="107000"/>
              </a:lnSpc>
              <a:spcBef>
                <a:spcPts val="0"/>
              </a:spcBef>
              <a:spcAft>
                <a:spcPts val="800"/>
              </a:spcAft>
              <a:buNone/>
            </a:pPr>
            <a:r>
              <a:rPr lang="en-US" sz="2300" b="1" dirty="0">
                <a:effectLst/>
                <a:latin typeface="Times New Roman" panose="02020603050405020304" pitchFamily="18" charset="0"/>
                <a:ea typeface="Times New Roman" panose="02020603050405020304" pitchFamily="18" charset="0"/>
                <a:cs typeface="Times New Roman" panose="02020603050405020304" pitchFamily="18" charset="0"/>
              </a:rPr>
              <a:t>Total Revenue: ₵322.97K</a:t>
            </a:r>
            <a:endParaRPr lang="en-US" sz="23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300" b="1" dirty="0">
                <a:effectLst/>
                <a:latin typeface="Times New Roman" panose="02020603050405020304" pitchFamily="18" charset="0"/>
                <a:ea typeface="Times New Roman" panose="02020603050405020304" pitchFamily="18" charset="0"/>
                <a:cs typeface="Times New Roman" panose="02020603050405020304" pitchFamily="18" charset="0"/>
              </a:rPr>
              <a:t>Total Gross Income: ₵15.38K</a:t>
            </a:r>
            <a:endParaRPr lang="en-US" sz="23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300" b="1" dirty="0">
                <a:effectLst/>
                <a:latin typeface="Times New Roman" panose="02020603050405020304" pitchFamily="18" charset="0"/>
                <a:ea typeface="Times New Roman" panose="02020603050405020304" pitchFamily="18" charset="0"/>
                <a:cs typeface="Times New Roman" panose="02020603050405020304" pitchFamily="18" charset="0"/>
              </a:rPr>
              <a:t>Total Orders: 1,000</a:t>
            </a:r>
            <a:endParaRPr lang="en-US" sz="23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300" b="1" dirty="0">
                <a:effectLst/>
                <a:latin typeface="Times New Roman" panose="02020603050405020304" pitchFamily="18" charset="0"/>
                <a:ea typeface="Times New Roman" panose="02020603050405020304" pitchFamily="18" charset="0"/>
                <a:cs typeface="Times New Roman" panose="02020603050405020304" pitchFamily="18" charset="0"/>
              </a:rPr>
              <a:t>Average Customer Rating: 6.97 / 10</a:t>
            </a:r>
            <a:endParaRPr lang="en-US" sz="23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300" b="1" dirty="0">
                <a:effectLst/>
                <a:latin typeface="Times New Roman" panose="02020603050405020304" pitchFamily="18" charset="0"/>
                <a:ea typeface="Times New Roman" panose="02020603050405020304" pitchFamily="18" charset="0"/>
                <a:cs typeface="Times New Roman" panose="02020603050405020304" pitchFamily="18" charset="0"/>
              </a:rPr>
              <a:t>Average Transaction Value: ~₵322 per sale</a:t>
            </a:r>
            <a:endParaRPr lang="en-US" sz="23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3800" b="1" dirty="0">
                <a:effectLst/>
                <a:latin typeface="Times New Roman" panose="02020603050405020304" pitchFamily="18" charset="0"/>
                <a:ea typeface="Times New Roman" panose="02020603050405020304" pitchFamily="18" charset="0"/>
                <a:cs typeface="Times New Roman" panose="02020603050405020304" pitchFamily="18" charset="0"/>
              </a:rPr>
              <a:t>Insight</a:t>
            </a:r>
            <a:b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FreshMart’s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performance is steady across the three cities with a gross margin of ~4.8%. The average customer rating (~7) leaves room for improvement via elevating service quality and product availability.</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Naypyitaw, with 111K revenue, leads slightly ahead of Yangon and Mandalay (106K each), showing a consistent edge in profitability and indicating potential to replicate Naypyitaw’s strategies in other branches.</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Evening is the peak sales period contributing about 45% of total revenue (58K), highlighting critical windows for inventory focus and staffing ramp-up to maximize conversion and customer experience.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49531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40686-E18C-4EA0-9556-CB55D0C01159}"/>
              </a:ext>
            </a:extLst>
          </p:cNvPr>
          <p:cNvSpPr>
            <a:spLocks noGrp="1"/>
          </p:cNvSpPr>
          <p:nvPr>
            <p:ph type="title"/>
          </p:nvPr>
        </p:nvSpPr>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Profit Report</a:t>
            </a:r>
            <a:endParaRPr lang="en-US" dirty="0"/>
          </a:p>
        </p:txBody>
      </p:sp>
      <p:sp>
        <p:nvSpPr>
          <p:cNvPr id="3" name="Content Placeholder 2">
            <a:extLst>
              <a:ext uri="{FF2B5EF4-FFF2-40B4-BE49-F238E27FC236}">
                <a16:creationId xmlns:a16="http://schemas.microsoft.com/office/drawing/2014/main" id="{7608A7C9-D540-49A7-B892-DC3A6BB7029F}"/>
              </a:ext>
            </a:extLst>
          </p:cNvPr>
          <p:cNvSpPr>
            <a:spLocks noGrp="1"/>
          </p:cNvSpPr>
          <p:nvPr>
            <p:ph idx="1"/>
          </p:nvPr>
        </p:nvSpPr>
        <p:spPr>
          <a:xfrm>
            <a:off x="677334" y="1251285"/>
            <a:ext cx="8596668" cy="4790078"/>
          </a:xfrm>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Highest gross profit achieved in foods and beverages, which correlates to its higher customer product  rating. </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Gross profit margins (~4.7%) are consistent across cities, indicating uniform pricing and cost control strategies; sales volume primarily drives revenue disparities.</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Female customers generated slightly higher revenue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and gross profit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than male customers, showing stronger spending and purchase consistency among female shoppers, pointing to differentiated purchasing habits that could be optimized further through gender-specific promotions.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93124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27F78-F7E9-4B8A-B3C2-D777DF7E201D}"/>
              </a:ext>
            </a:extLst>
          </p:cNvPr>
          <p:cNvSpPr>
            <a:spLocks noGrp="1"/>
          </p:cNvSpPr>
          <p:nvPr>
            <p:ph type="title"/>
          </p:nvPr>
        </p:nvSpPr>
        <p:spPr>
          <a:xfrm>
            <a:off x="677334" y="609600"/>
            <a:ext cx="8596668" cy="863065"/>
          </a:xfrm>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Sales Trends Report</a:t>
            </a:r>
            <a:endParaRPr lang="en-US" dirty="0"/>
          </a:p>
        </p:txBody>
      </p:sp>
      <p:sp>
        <p:nvSpPr>
          <p:cNvPr id="3" name="Content Placeholder 2">
            <a:extLst>
              <a:ext uri="{FF2B5EF4-FFF2-40B4-BE49-F238E27FC236}">
                <a16:creationId xmlns:a16="http://schemas.microsoft.com/office/drawing/2014/main" id="{31BB63BB-69A9-47BA-8F33-6E4E6FC703FF}"/>
              </a:ext>
            </a:extLst>
          </p:cNvPr>
          <p:cNvSpPr>
            <a:spLocks noGrp="1"/>
          </p:cNvSpPr>
          <p:nvPr>
            <p:ph idx="1"/>
          </p:nvPr>
        </p:nvSpPr>
        <p:spPr>
          <a:xfrm>
            <a:off x="677334" y="1472665"/>
            <a:ext cx="8596668" cy="4568697"/>
          </a:xfrm>
        </p:spPr>
        <p:txBody>
          <a:bodyPr>
            <a:normAutofit/>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Peak revenue months are January and March, with sales dipping in February.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Evening hours (4 PM – 9 PM) generate roughly twice the revenue compared to mornings or afternoons, signaling the importance of aligning operational resources accordingly.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we look at daily sales patterns,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Tuesdays and Saturdays record the highest revenue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These could be linked to weekday shopping habits and weekend stock-ups.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Mondays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are the slowest days, presenting opportunities for targeted midweek promotions or loyalty point multipliers to drive traffic.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609257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CC45-BE64-4048-A8FA-0CF7E4B54D03}"/>
              </a:ext>
            </a:extLst>
          </p:cNvPr>
          <p:cNvSpPr>
            <a:spLocks noGrp="1"/>
          </p:cNvSpPr>
          <p:nvPr>
            <p:ph type="title"/>
          </p:nvPr>
        </p:nvSpPr>
        <p:spPr>
          <a:xfrm>
            <a:off x="677334" y="609600"/>
            <a:ext cx="8596668" cy="786063"/>
          </a:xfrm>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Customer Segment Report</a:t>
            </a:r>
            <a:endParaRPr lang="en-US" dirty="0"/>
          </a:p>
        </p:txBody>
      </p:sp>
      <p:sp>
        <p:nvSpPr>
          <p:cNvPr id="3" name="Content Placeholder 2">
            <a:extLst>
              <a:ext uri="{FF2B5EF4-FFF2-40B4-BE49-F238E27FC236}">
                <a16:creationId xmlns:a16="http://schemas.microsoft.com/office/drawing/2014/main" id="{103852BF-0964-409C-A786-D562C68C9880}"/>
              </a:ext>
            </a:extLst>
          </p:cNvPr>
          <p:cNvSpPr>
            <a:spLocks noGrp="1"/>
          </p:cNvSpPr>
          <p:nvPr>
            <p:ph idx="1"/>
          </p:nvPr>
        </p:nvSpPr>
        <p:spPr>
          <a:xfrm>
            <a:off x="677334" y="1270535"/>
            <a:ext cx="8596668" cy="2158465"/>
          </a:xfrm>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Members contribute slightly more revenue (₵164K) than normal customers (₵159K), validating the benefits of loyalty programs.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Female customers marginally outperform males in revenue generation (₵168K vs ₵155K) suggesting a focus on female customer engagement for incremental gains.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balanced gender distribution across segments provides a solid foundation for targeted marketing and loyalty expansion strategies aimed at both segments.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id="{BB89F07C-2CEE-457A-ACE9-005EE711BAD7}"/>
              </a:ext>
            </a:extLst>
          </p:cNvPr>
          <p:cNvSpPr txBox="1"/>
          <p:nvPr/>
        </p:nvSpPr>
        <p:spPr>
          <a:xfrm>
            <a:off x="677334" y="3460282"/>
            <a:ext cx="6097604" cy="655885"/>
          </a:xfrm>
          <a:prstGeom prst="rect">
            <a:avLst/>
          </a:prstGeom>
          <a:noFill/>
        </p:spPr>
        <p:txBody>
          <a:bodyPr wrap="square">
            <a:spAutoFit/>
          </a:bodyPr>
          <a:lstStyle/>
          <a:p>
            <a:pPr marR="0" lvl="0">
              <a:lnSpc>
                <a:spcPct val="107000"/>
              </a:lnSpc>
              <a:spcBef>
                <a:spcPts val="0"/>
              </a:spcBef>
              <a:spcAft>
                <a:spcPts val="800"/>
              </a:spcAft>
            </a:pPr>
            <a:r>
              <a:rPr lang="en-US" sz="3600" b="1" dirty="0">
                <a:solidFill>
                  <a:srgbClr val="92D050"/>
                </a:solidFill>
                <a:effectLst/>
                <a:latin typeface="Times New Roman" panose="02020603050405020304" pitchFamily="18" charset="0"/>
                <a:ea typeface="Calibri" panose="020F0502020204030204" pitchFamily="34" charset="0"/>
                <a:cs typeface="Times New Roman" panose="02020603050405020304" pitchFamily="18" charset="0"/>
              </a:rPr>
              <a:t>Product Report</a:t>
            </a:r>
            <a:endParaRPr lang="en-US" sz="3200" dirty="0">
              <a:solidFill>
                <a:srgbClr val="92D05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78F803BA-6B89-4C34-AA21-A3BF974D811D}"/>
              </a:ext>
            </a:extLst>
          </p:cNvPr>
          <p:cNvSpPr txBox="1"/>
          <p:nvPr/>
        </p:nvSpPr>
        <p:spPr>
          <a:xfrm>
            <a:off x="677334" y="4074669"/>
            <a:ext cx="8596668" cy="1365758"/>
          </a:xfrm>
          <a:prstGeom prst="rect">
            <a:avLst/>
          </a:prstGeom>
          <a:noFill/>
        </p:spPr>
        <p:txBody>
          <a:bodyPr wrap="square">
            <a:spAutoFit/>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Food &amp; Beverages lead in total revenue (₵56K) and customer satisfaction (~7.11), stressing their role as essentials and strong revenue drivers.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Variance in product ratings across categories highlights opportunity to uplift experience in lower-rated segments like ‘home and lifestyle’ by improving quality or customer service.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2165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9AF5-578E-4C09-816C-139A55FD31F0}"/>
              </a:ext>
            </a:extLst>
          </p:cNvPr>
          <p:cNvSpPr>
            <a:spLocks noGrp="1"/>
          </p:cNvSpPr>
          <p:nvPr>
            <p:ph type="title"/>
          </p:nvPr>
        </p:nvSpPr>
        <p:spPr>
          <a:xfrm>
            <a:off x="677334" y="609600"/>
            <a:ext cx="8596668" cy="680185"/>
          </a:xfrm>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Payment Report</a:t>
            </a:r>
            <a:endParaRPr lang="en-US" dirty="0"/>
          </a:p>
        </p:txBody>
      </p:sp>
      <p:sp>
        <p:nvSpPr>
          <p:cNvPr id="3" name="Content Placeholder 2">
            <a:extLst>
              <a:ext uri="{FF2B5EF4-FFF2-40B4-BE49-F238E27FC236}">
                <a16:creationId xmlns:a16="http://schemas.microsoft.com/office/drawing/2014/main" id="{5C4756C4-1B25-4200-A472-BCB877B5D296}"/>
              </a:ext>
            </a:extLst>
          </p:cNvPr>
          <p:cNvSpPr>
            <a:spLocks noGrp="1"/>
          </p:cNvSpPr>
          <p:nvPr>
            <p:ph idx="1"/>
          </p:nvPr>
        </p:nvSpPr>
        <p:spPr>
          <a:xfrm>
            <a:off x="677334" y="1480404"/>
            <a:ext cx="8596668" cy="3880773"/>
          </a:xfrm>
        </p:spPr>
        <p:txBody>
          <a:bodyPr/>
          <a:lstStyle/>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Payment methods are balanced with E-wallet (34.5%), cash (34.4%), and credit cards (31.1%) nearly equally favored by customers.</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Slightly higher average ratings among credit card users may signal demographic segments with higher satisfaction and spending power, useful for payment-related marketing.</a:t>
            </a: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Branch-specific payment preferences (Naypyitaw favoring cash; Yangon leaning towards E-wallet) enable tailored digital payment promotions by location to drive adoption and convenience.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08079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16F14-13DB-484E-87FC-AA9DD817A253}"/>
              </a:ext>
            </a:extLst>
          </p:cNvPr>
          <p:cNvSpPr>
            <a:spLocks noGrp="1"/>
          </p:cNvSpPr>
          <p:nvPr>
            <p:ph type="title"/>
          </p:nvPr>
        </p:nvSpPr>
        <p:spPr>
          <a:xfrm>
            <a:off x="677334" y="609600"/>
            <a:ext cx="8596668" cy="709061"/>
          </a:xfrm>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Recommendations</a:t>
            </a:r>
            <a:endParaRPr lang="en-US" dirty="0"/>
          </a:p>
        </p:txBody>
      </p:sp>
      <p:sp>
        <p:nvSpPr>
          <p:cNvPr id="3" name="Content Placeholder 2">
            <a:extLst>
              <a:ext uri="{FF2B5EF4-FFF2-40B4-BE49-F238E27FC236}">
                <a16:creationId xmlns:a16="http://schemas.microsoft.com/office/drawing/2014/main" id="{28C2E6EC-B662-456C-9411-3B7B327B867E}"/>
              </a:ext>
            </a:extLst>
          </p:cNvPr>
          <p:cNvSpPr>
            <a:spLocks noGrp="1"/>
          </p:cNvSpPr>
          <p:nvPr>
            <p:ph idx="1"/>
          </p:nvPr>
        </p:nvSpPr>
        <p:spPr>
          <a:xfrm>
            <a:off x="677334" y="1525699"/>
            <a:ext cx="8596668" cy="4722701"/>
          </a:xfrm>
        </p:spPr>
        <p:txBody>
          <a:bodyPr>
            <a:normAutofit/>
          </a:bodyPr>
          <a:lstStyle/>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Increase staff and checkout counters during evening peak hours (4 PM – 9 PM) to enhance service and reduce wait times.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Introduce exclusive evening promotions to exploit high traffic and drive incremental revenue.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Expand loyalty program offerings focusing on member customers and female shoppers to maximize revenue potential.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Promote digital payment adoption, offering incentives for E-wallet usage to reduce cash handling costs.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Design midweek promotions aimed at boosting sales on slow days, especially Mondays.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Prioritize feedback collection on lower-rated product categories to enhance customer satisfaction and retention.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Consider replicating Naypyitaw’s advantageous strategies and operational efficiencies across other branches.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910154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0512D-F8E7-4DEE-AD8A-A1555851345C}"/>
              </a:ext>
            </a:extLst>
          </p:cNvPr>
          <p:cNvSpPr>
            <a:spLocks noGrp="1"/>
          </p:cNvSpPr>
          <p:nvPr>
            <p:ph type="title"/>
          </p:nvPr>
        </p:nvSpPr>
        <p:spPr>
          <a:xfrm>
            <a:off x="677334" y="609600"/>
            <a:ext cx="8596668" cy="622434"/>
          </a:xfrm>
        </p:spPr>
        <p:txBody>
          <a:bodyPr>
            <a:normAutofit fontScale="90000"/>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dirty="0"/>
          </a:p>
        </p:txBody>
      </p:sp>
      <p:sp>
        <p:nvSpPr>
          <p:cNvPr id="3" name="Content Placeholder 2">
            <a:extLst>
              <a:ext uri="{FF2B5EF4-FFF2-40B4-BE49-F238E27FC236}">
                <a16:creationId xmlns:a16="http://schemas.microsoft.com/office/drawing/2014/main" id="{4CD090E6-1240-4867-B98F-1CDD1571FFC0}"/>
              </a:ext>
            </a:extLst>
          </p:cNvPr>
          <p:cNvSpPr>
            <a:spLocks noGrp="1"/>
          </p:cNvSpPr>
          <p:nvPr>
            <p:ph idx="1"/>
          </p:nvPr>
        </p:nvSpPr>
        <p:spPr>
          <a:xfrm>
            <a:off x="677334" y="1232035"/>
            <a:ext cx="8596668" cy="1289784"/>
          </a:xfrm>
        </p:spPr>
        <p:txBody>
          <a:bodyPr/>
          <a:lstStyle/>
          <a:p>
            <a:pPr marL="0" marR="0" indent="0">
              <a:lnSpc>
                <a:spcPct val="107000"/>
              </a:lnSpc>
              <a:spcBef>
                <a:spcPts val="0"/>
              </a:spcBef>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analysis project successfully leveraged Power BI to transform raw supermarket data into rich, actionable insights guiding strategic decisions. The dashboard consolidates core performance metrics while detailed reports uncover critical revenue drivers, customer behavior, and operational timing patterns.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8538A86-8B56-4837-B802-6E6ADDE065E3}"/>
              </a:ext>
            </a:extLst>
          </p:cNvPr>
          <p:cNvSpPr txBox="1"/>
          <p:nvPr/>
        </p:nvSpPr>
        <p:spPr>
          <a:xfrm>
            <a:off x="677334" y="3207250"/>
            <a:ext cx="8469072" cy="1596334"/>
          </a:xfrm>
          <a:prstGeom prst="rect">
            <a:avLst/>
          </a:prstGeom>
          <a:noFill/>
        </p:spPr>
        <p:txBody>
          <a:bodyPr wrap="square">
            <a:spAutoFit/>
          </a:bodyPr>
          <a:lstStyle/>
          <a:p>
            <a:pPr marL="0" marR="0" indent="0">
              <a:lnSpc>
                <a:spcPct val="107000"/>
              </a:lnSpc>
              <a:spcBef>
                <a:spcPts val="0"/>
              </a:spcBef>
              <a:spcAft>
                <a:spcPts val="800"/>
              </a:spcAft>
              <a:buNone/>
            </a:pPr>
            <a:r>
              <a:rPr lang="en-US" sz="3200" b="1" dirty="0">
                <a:solidFill>
                  <a:srgbClr val="92D050"/>
                </a:solidFill>
                <a:effectLst/>
                <a:latin typeface="Times New Roman" panose="02020603050405020304" pitchFamily="18" charset="0"/>
                <a:ea typeface="Calibri" panose="020F0502020204030204" pitchFamily="34" charset="0"/>
                <a:cs typeface="Times New Roman" panose="02020603050405020304" pitchFamily="18" charset="0"/>
              </a:rPr>
              <a:t>Reflection</a:t>
            </a:r>
            <a:endParaRPr lang="en-US" sz="3200" dirty="0">
              <a:solidFill>
                <a:srgbClr val="92D05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project deepened expertise in data modeling and visual storytelling, underscoring the value of user-friendly, accurate business intelligence in managing multi-branch retail operations effectively.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232101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67</TotalTime>
  <Words>1381</Words>
  <Application>Microsoft Office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Symbol</vt:lpstr>
      <vt:lpstr>Times New Roman</vt:lpstr>
      <vt:lpstr>Trebuchet MS</vt:lpstr>
      <vt:lpstr>Wingdings 3</vt:lpstr>
      <vt:lpstr>Facet</vt:lpstr>
      <vt:lpstr>Fresh Mart Superstores Sales Analysis Reports</vt:lpstr>
      <vt:lpstr>Background</vt:lpstr>
      <vt:lpstr>Objective</vt:lpstr>
      <vt:lpstr>Tools Used</vt:lpstr>
      <vt:lpstr>Problem Statement / Business Questions</vt:lpstr>
      <vt:lpstr>Data Collection and Description</vt:lpstr>
      <vt:lpstr>Data Cleaning and Preparation</vt:lpstr>
      <vt:lpstr>Data Analysis</vt:lpstr>
      <vt:lpstr>Dashboard: Overall Performance </vt:lpstr>
      <vt:lpstr>Profit Report</vt:lpstr>
      <vt:lpstr>Sales Trends Report</vt:lpstr>
      <vt:lpstr>Customer Segment Report</vt:lpstr>
      <vt:lpstr>Payment Report</vt:lpstr>
      <vt:lpstr>Recommendations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 Mart Superstores Sales Analysis Reports</dc:title>
  <dc:creator>Morenikeji Folowosele</dc:creator>
  <cp:lastModifiedBy>Morenikeji Folowosele</cp:lastModifiedBy>
  <cp:revision>6</cp:revision>
  <dcterms:created xsi:type="dcterms:W3CDTF">2025-11-03T10:10:55Z</dcterms:created>
  <dcterms:modified xsi:type="dcterms:W3CDTF">2025-11-03T11:18:05Z</dcterms:modified>
</cp:coreProperties>
</file>